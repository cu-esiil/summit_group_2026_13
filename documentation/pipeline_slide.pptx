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208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37373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Hills Uranium Application Pipeline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BA3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geospatial data pipeline — SD DANR · EPA · BLM · NLCD · MTBS + 5 more sources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93192" y="10972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 w="19050">
            <a:solidFill>
              <a:srgbClr val="3B7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2336" y="1097280"/>
            <a:ext cx="1810512" cy="73152"/>
          </a:xfrm>
          <a:prstGeom prst="rect">
            <a:avLst/>
          </a:prstGeom>
          <a:solidFill>
            <a:srgbClr val="3B7DDD"/>
          </a:solidFill>
          <a:ln w="12700">
            <a:solidFill>
              <a:srgbClr val="3B7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93192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93192" y="1481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🌐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84632" y="19933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 Sources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450592"/>
            <a:ext cx="1609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 DANR · App PDFs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EPA Uranium Mines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BLM Mining Claims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NLCD Land Cover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Hansen Forest Cover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LANDFIRE Fuel Models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TIGER · MTBS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Building Footprints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3858768"/>
            <a:ext cx="1609344" cy="310896"/>
          </a:xfrm>
          <a:prstGeom prst="rect">
            <a:avLst/>
          </a:prstGeom>
          <a:solidFill>
            <a:srgbClr val="3B7DDD">
              <a:alpha val="30000"/>
            </a:srgbClr>
          </a:solidFill>
          <a:ln w="10160">
            <a:solidFill>
              <a:srgbClr val="3B7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385876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A8C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raw datasets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569464" y="10972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3D2B00"/>
          </a:solidFill>
          <a:ln w="190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578608" y="1097280"/>
            <a:ext cx="1810512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569464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· parse_exni_to_geojson.py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9464" y="1481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📄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660904" y="19933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Parser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679192" y="2450592"/>
            <a:ext cx="1609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Crawl &amp; download PDFs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pdfplumber extraction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fallback (Tesseract)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PLSS Township/Range regex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centroid math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County polygon fallback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679192" y="3858768"/>
            <a:ext cx="1609344" cy="310896"/>
          </a:xfrm>
          <a:prstGeom prst="rect">
            <a:avLst/>
          </a:prstGeom>
          <a:solidFill>
            <a:srgbClr val="D97706">
              <a:alpha val="30000"/>
            </a:srgbClr>
          </a:solidFill>
          <a:ln w="1016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679192" y="385876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danr_exni_uranium.geojson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45736" y="10972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0F3320"/>
          </a:solidFill>
          <a:ln w="1905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754880" y="1097280"/>
            <a:ext cx="1810512" cy="73152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45736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6EE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2–3 · harmonize + sidebar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745736" y="1481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4837176" y="19933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Harmonizer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55464" y="2450592"/>
            <a:ext cx="1609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&amp; unzip 17 datasets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Reproject → EPSG:4326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Resample → ~270 m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to Black Hills bbox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Rasterize vector layers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per-layer PNGs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layer sidebar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55464" y="3858768"/>
            <a:ext cx="1609344" cy="310896"/>
          </a:xfrm>
          <a:prstGeom prst="rect">
            <a:avLst/>
          </a:prstGeom>
          <a:solidFill>
            <a:srgbClr val="2E8B57">
              <a:alpha val="30000"/>
            </a:srgbClr>
          </a:solidFill>
          <a:ln w="10160">
            <a:solidFill>
              <a:srgbClr val="2E8B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55464" y="385876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6EE7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GeoTIFF + GeoJSON layers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922008" y="1097280"/>
            <a:ext cx="1828800" cy="3200400"/>
          </a:xfrm>
          <a:prstGeom prst="roundRect">
            <a:avLst>
              <a:gd name="adj" fmla="val 6000"/>
            </a:avLst>
          </a:prstGeom>
          <a:solidFill>
            <a:srgbClr val="3B0D3A"/>
          </a:solidFill>
          <a:ln w="19050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931152" y="1097280"/>
            <a:ext cx="1810512" cy="73152"/>
          </a:xfrm>
          <a:prstGeom prst="rect">
            <a:avLst/>
          </a:prstGeom>
          <a:solidFill>
            <a:srgbClr val="C026D3"/>
          </a:solidFill>
          <a:ln w="12700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922008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150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922008" y="1481328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7013448" y="199339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031736" y="2450592"/>
            <a:ext cx="160934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Per-layer GeoTIFF files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harmonized_visualization.png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composite.png mosaic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folium HTML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sidebar: toggle,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8D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opacity &amp; reorder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31736" y="3858768"/>
            <a:ext cx="1609344" cy="310896"/>
          </a:xfrm>
          <a:prstGeom prst="rect">
            <a:avLst/>
          </a:prstGeom>
          <a:solidFill>
            <a:srgbClr val="C026D3">
              <a:alpha val="30000"/>
            </a:srgbClr>
          </a:solidFill>
          <a:ln w="10160">
            <a:solidFill>
              <a:srgbClr val="C026D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031736" y="3858768"/>
            <a:ext cx="1609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879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output/ directory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58568" y="2697480"/>
            <a:ext cx="274320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4434840" y="2697480"/>
            <a:ext cx="274320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611112" y="2697480"/>
            <a:ext cx="274320" cy="0"/>
          </a:xfrm>
          <a:prstGeom prst="line">
            <a:avLst/>
          </a:prstGeom>
          <a:noFill/>
          <a:ln w="25400">
            <a:solidFill>
              <a:srgbClr val="4A6FA5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457200" y="4800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0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parse_exni_to_geojson.py  →  black_hills_harmonization.py  →  inject_sidebar.py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697625-1C66-8087-5319-E7C2FE8A0DE4}"/>
              </a:ext>
            </a:extLst>
          </p:cNvPr>
          <p:cNvSpPr/>
          <p:nvPr/>
        </p:nvSpPr>
        <p:spPr>
          <a:xfrm>
            <a:off x="78154" y="1086338"/>
            <a:ext cx="1203569" cy="562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Geospatial </a:t>
            </a:r>
            <a:r>
              <a:rPr lang="en-US" sz="1100" dirty="0" err="1"/>
              <a:t>dataç</a:t>
            </a:r>
            <a:endParaRPr lang="en-US" sz="11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D32B2D-4DDD-0BB5-9148-1C0AFC37529D}"/>
              </a:ext>
            </a:extLst>
          </p:cNvPr>
          <p:cNvSpPr/>
          <p:nvPr/>
        </p:nvSpPr>
        <p:spPr>
          <a:xfrm>
            <a:off x="78143" y="1952673"/>
            <a:ext cx="1203569" cy="562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TEXTs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D2DD8C-B6C7-58DE-4562-C90A6121EBFA}"/>
              </a:ext>
            </a:extLst>
          </p:cNvPr>
          <p:cNvSpPr/>
          <p:nvPr/>
        </p:nvSpPr>
        <p:spPr>
          <a:xfrm>
            <a:off x="78154" y="2720242"/>
            <a:ext cx="1293441" cy="11405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Weather data (historical and projected data)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155871-88B2-2241-1368-9112682C5C0D}"/>
              </a:ext>
            </a:extLst>
          </p:cNvPr>
          <p:cNvSpPr/>
          <p:nvPr/>
        </p:nvSpPr>
        <p:spPr>
          <a:xfrm>
            <a:off x="1440146" y="1662237"/>
            <a:ext cx="1203569" cy="85710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Cassie LLM adapted workflow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8FC18E1-C067-3D85-11F5-BD7B0643B9BE}"/>
              </a:ext>
            </a:extLst>
          </p:cNvPr>
          <p:cNvSpPr txBox="1"/>
          <p:nvPr/>
        </p:nvSpPr>
        <p:spPr>
          <a:xfrm>
            <a:off x="2842881" y="1750485"/>
            <a:ext cx="1203570" cy="46166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 err="1"/>
              <a:t>Geosjson</a:t>
            </a:r>
            <a:endParaRPr lang="en-US" sz="1200" dirty="0"/>
          </a:p>
          <a:p>
            <a:r>
              <a:rPr lang="en-US" sz="1200" dirty="0" err="1"/>
              <a:t>Geotif</a:t>
            </a:r>
            <a:r>
              <a:rPr lang="en-US" sz="1200" dirty="0"/>
              <a:t> files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53682E-5177-66B1-E1BF-CDA4511E2A33}"/>
              </a:ext>
            </a:extLst>
          </p:cNvPr>
          <p:cNvSpPr txBox="1"/>
          <p:nvPr/>
        </p:nvSpPr>
        <p:spPr>
          <a:xfrm>
            <a:off x="4298938" y="809790"/>
            <a:ext cx="1473192" cy="2585323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4BA701-71D7-A18E-8095-346584111632}"/>
              </a:ext>
            </a:extLst>
          </p:cNvPr>
          <p:cNvSpPr/>
          <p:nvPr/>
        </p:nvSpPr>
        <p:spPr>
          <a:xfrm>
            <a:off x="4448919" y="1482774"/>
            <a:ext cx="1203569" cy="562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5F7237-CDF1-BF21-E12A-AF374F763A33}"/>
              </a:ext>
            </a:extLst>
          </p:cNvPr>
          <p:cNvSpPr/>
          <p:nvPr/>
        </p:nvSpPr>
        <p:spPr>
          <a:xfrm>
            <a:off x="4441995" y="2198288"/>
            <a:ext cx="1203569" cy="5627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DRASTIC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D67771-AE85-E7AE-25C5-31E4ED8AB683}"/>
              </a:ext>
            </a:extLst>
          </p:cNvPr>
          <p:cNvSpPr txBox="1"/>
          <p:nvPr/>
        </p:nvSpPr>
        <p:spPr>
          <a:xfrm>
            <a:off x="5973999" y="1291839"/>
            <a:ext cx="1203570" cy="1292662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Dashboard/ database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CB717-FD9E-0ECF-4C18-FE052F205333}"/>
              </a:ext>
            </a:extLst>
          </p:cNvPr>
          <p:cNvSpPr txBox="1"/>
          <p:nvPr/>
        </p:nvSpPr>
        <p:spPr>
          <a:xfrm>
            <a:off x="118681" y="4466309"/>
            <a:ext cx="8807938" cy="276999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Python package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6491A3-9030-FBA8-43CE-D69F7555F2BA}"/>
              </a:ext>
            </a:extLst>
          </p:cNvPr>
          <p:cNvSpPr txBox="1"/>
          <p:nvPr/>
        </p:nvSpPr>
        <p:spPr>
          <a:xfrm>
            <a:off x="7528921" y="1473485"/>
            <a:ext cx="16738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Relative vulnerability index</a:t>
            </a:r>
          </a:p>
          <a:p>
            <a:endParaRPr lang="en-US" sz="1200" dirty="0"/>
          </a:p>
          <a:p>
            <a:r>
              <a:rPr lang="en-US" sz="1200" dirty="0"/>
              <a:t>Water </a:t>
            </a:r>
            <a:r>
              <a:rPr lang="en-US" sz="1200" dirty="0" err="1"/>
              <a:t>avaibility</a:t>
            </a:r>
            <a:endParaRPr lang="en-US" sz="1200" dirty="0"/>
          </a:p>
          <a:p>
            <a:r>
              <a:rPr lang="en-US" sz="1200" dirty="0"/>
              <a:t> </a:t>
            </a:r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5462C9-C644-378F-7D5F-A80B8386A8AC}"/>
              </a:ext>
            </a:extLst>
          </p:cNvPr>
          <p:cNvSpPr txBox="1"/>
          <p:nvPr/>
        </p:nvSpPr>
        <p:spPr>
          <a:xfrm>
            <a:off x="5264335" y="3769789"/>
            <a:ext cx="1203570" cy="46166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User inputs on process models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66B9C61-2613-019F-6F07-D3E33B09EA68}"/>
              </a:ext>
            </a:extLst>
          </p:cNvPr>
          <p:cNvSpPr txBox="1"/>
          <p:nvPr/>
        </p:nvSpPr>
        <p:spPr>
          <a:xfrm>
            <a:off x="168025" y="89075"/>
            <a:ext cx="1203570" cy="276999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Inputs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515837-190A-4F93-A3A3-C4EEE671E152}"/>
              </a:ext>
            </a:extLst>
          </p:cNvPr>
          <p:cNvSpPr txBox="1"/>
          <p:nvPr/>
        </p:nvSpPr>
        <p:spPr>
          <a:xfrm>
            <a:off x="2114395" y="110708"/>
            <a:ext cx="1203570" cy="461665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Data harmonization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4E1A78-47EC-3B32-C62A-0C457D24F968}"/>
              </a:ext>
            </a:extLst>
          </p:cNvPr>
          <p:cNvSpPr txBox="1"/>
          <p:nvPr/>
        </p:nvSpPr>
        <p:spPr>
          <a:xfrm>
            <a:off x="4060765" y="37105"/>
            <a:ext cx="1203570" cy="276999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Process model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2B821E0-0FA8-58C0-81CC-F6D6C5EE8CC5}"/>
              </a:ext>
            </a:extLst>
          </p:cNvPr>
          <p:cNvSpPr txBox="1"/>
          <p:nvPr/>
        </p:nvSpPr>
        <p:spPr>
          <a:xfrm>
            <a:off x="6927136" y="129156"/>
            <a:ext cx="1203570" cy="276999"/>
          </a:xfrm>
          <a:prstGeom prst="rect">
            <a:avLst/>
          </a:prstGeom>
          <a:solidFill>
            <a:schemeClr val="accent2"/>
          </a:solidFill>
        </p:spPr>
        <p:txBody>
          <a:bodyPr wrap="square" rtlCol="0">
            <a:spAutoFit/>
          </a:bodyPr>
          <a:lstStyle/>
          <a:p>
            <a:r>
              <a:rPr lang="en-US" sz="1200" dirty="0"/>
              <a:t>Outputs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B4B6289-26D7-DE67-2B38-83E86F23C8C0}"/>
              </a:ext>
            </a:extLst>
          </p:cNvPr>
          <p:cNvCxnSpPr>
            <a:cxnSpLocks/>
          </p:cNvCxnSpPr>
          <p:nvPr/>
        </p:nvCxnSpPr>
        <p:spPr>
          <a:xfrm flipH="1" flipV="1">
            <a:off x="5149516" y="3395113"/>
            <a:ext cx="410858" cy="3746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D1A6C7A-420F-D341-F01C-33CE6331CA46}"/>
              </a:ext>
            </a:extLst>
          </p:cNvPr>
          <p:cNvCxnSpPr>
            <a:cxnSpLocks/>
          </p:cNvCxnSpPr>
          <p:nvPr/>
        </p:nvCxnSpPr>
        <p:spPr>
          <a:xfrm flipV="1">
            <a:off x="5866120" y="2533637"/>
            <a:ext cx="755131" cy="12870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94E4004-25AB-BE24-F0A8-7BEC6247F79D}"/>
              </a:ext>
            </a:extLst>
          </p:cNvPr>
          <p:cNvCxnSpPr>
            <a:cxnSpLocks/>
          </p:cNvCxnSpPr>
          <p:nvPr/>
        </p:nvCxnSpPr>
        <p:spPr>
          <a:xfrm>
            <a:off x="1281712" y="1303691"/>
            <a:ext cx="276255" cy="28947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2903789-0697-AE84-06EA-41213CDD78EB}"/>
              </a:ext>
            </a:extLst>
          </p:cNvPr>
          <p:cNvCxnSpPr>
            <a:cxnSpLocks/>
          </p:cNvCxnSpPr>
          <p:nvPr/>
        </p:nvCxnSpPr>
        <p:spPr>
          <a:xfrm>
            <a:off x="1163891" y="2100735"/>
            <a:ext cx="394076" cy="1399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FA9A9A2-7978-EAF8-A3F9-8FEEE62AAF5C}"/>
              </a:ext>
            </a:extLst>
          </p:cNvPr>
          <p:cNvCxnSpPr>
            <a:cxnSpLocks/>
          </p:cNvCxnSpPr>
          <p:nvPr/>
        </p:nvCxnSpPr>
        <p:spPr>
          <a:xfrm flipV="1">
            <a:off x="1312248" y="2614814"/>
            <a:ext cx="545428" cy="601047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DA1A880-08B7-8118-B435-3CA12C3D00DF}"/>
              </a:ext>
            </a:extLst>
          </p:cNvPr>
          <p:cNvCxnSpPr>
            <a:cxnSpLocks/>
          </p:cNvCxnSpPr>
          <p:nvPr/>
        </p:nvCxnSpPr>
        <p:spPr>
          <a:xfrm>
            <a:off x="2543835" y="1981316"/>
            <a:ext cx="394076" cy="1399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0A711C8-DD62-0C0A-7681-BF4E16B04071}"/>
              </a:ext>
            </a:extLst>
          </p:cNvPr>
          <p:cNvCxnSpPr>
            <a:cxnSpLocks/>
          </p:cNvCxnSpPr>
          <p:nvPr/>
        </p:nvCxnSpPr>
        <p:spPr>
          <a:xfrm>
            <a:off x="3928600" y="1981316"/>
            <a:ext cx="394076" cy="1399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9F56356-8BF0-7260-394D-E742F31A33D9}"/>
              </a:ext>
            </a:extLst>
          </p:cNvPr>
          <p:cNvCxnSpPr>
            <a:cxnSpLocks/>
          </p:cNvCxnSpPr>
          <p:nvPr/>
        </p:nvCxnSpPr>
        <p:spPr>
          <a:xfrm>
            <a:off x="5682971" y="2009409"/>
            <a:ext cx="394076" cy="13998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B7F86AE-C10A-6FAA-94D2-5F6418AB91F3}"/>
              </a:ext>
            </a:extLst>
          </p:cNvPr>
          <p:cNvCxnSpPr>
            <a:cxnSpLocks/>
          </p:cNvCxnSpPr>
          <p:nvPr/>
        </p:nvCxnSpPr>
        <p:spPr>
          <a:xfrm>
            <a:off x="7018968" y="1924172"/>
            <a:ext cx="509953" cy="190561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1F9ADF7-174E-ABFF-E16C-9A48D8707889}"/>
              </a:ext>
            </a:extLst>
          </p:cNvPr>
          <p:cNvCxnSpPr>
            <a:cxnSpLocks/>
          </p:cNvCxnSpPr>
          <p:nvPr/>
        </p:nvCxnSpPr>
        <p:spPr>
          <a:xfrm flipV="1">
            <a:off x="6967843" y="1593162"/>
            <a:ext cx="561078" cy="84670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47457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242</Words>
  <Application>Microsoft Macintosh PowerPoint</Application>
  <PresentationFormat>On-screen Show (16:9)</PresentationFormat>
  <Paragraphs>74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Jason Tinant</cp:lastModifiedBy>
  <cp:revision>2</cp:revision>
  <dcterms:created xsi:type="dcterms:W3CDTF">2026-05-14T19:37:58Z</dcterms:created>
  <dcterms:modified xsi:type="dcterms:W3CDTF">2026-05-14T20:21:27Z</dcterms:modified>
</cp:coreProperties>
</file>