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3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3737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>
                <a:solidFill>
                  <a:srgbClr val="FFFFFF"/>
                </a:solidFill>
              </a:rPr>
              <a:t>Black Hills Mining Impact Digital Twin</a:t>
            </a:r>
            <a:endParaRPr lang="en-US" sz="2600" b="1" dirty="0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geospatial data pipeline — SD DANR · EPA · BLM · NLCD · MTBS + 5 more sources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93192" y="109728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 w="19050">
            <a:solidFill>
              <a:srgbClr val="3B7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2336" y="1097280"/>
            <a:ext cx="1810512" cy="73152"/>
          </a:xfrm>
          <a:prstGeom prst="rect">
            <a:avLst/>
          </a:prstGeom>
          <a:solidFill>
            <a:srgbClr val="3B7DDD"/>
          </a:solidFill>
          <a:ln w="12700">
            <a:solidFill>
              <a:srgbClr val="3B7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93192" y="120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A8C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93192" y="14813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84632" y="199339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 Sources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450592"/>
            <a:ext cx="16093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DANR · App PDFs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Uranium Mines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BLM Mining Claims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NLCD Land Cover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Hansen Forest Cover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LANDFIRE Fuel Models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TIGER · MTBS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Building Footprints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3858768"/>
            <a:ext cx="1609344" cy="310896"/>
          </a:xfrm>
          <a:prstGeom prst="rect">
            <a:avLst/>
          </a:prstGeom>
          <a:solidFill>
            <a:srgbClr val="3B7DDD">
              <a:alpha val="30000"/>
            </a:srgbClr>
          </a:solidFill>
          <a:ln w="10160">
            <a:solidFill>
              <a:srgbClr val="3B7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858768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8C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raw datasets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69464" y="109728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3D2B00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78608" y="1097280"/>
            <a:ext cx="1810512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69464" y="120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parse_exni_to_geojson.py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69464" y="14813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60904" y="199339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79192" y="2450592"/>
            <a:ext cx="16093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 &amp; download PDFs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 extraction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fallback (Tesseract)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PLSS Township/Range regex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centroid math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polygon fallback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79192" y="3858768"/>
            <a:ext cx="1609344" cy="310896"/>
          </a:xfrm>
          <a:prstGeom prst="rect">
            <a:avLst/>
          </a:prstGeom>
          <a:solidFill>
            <a:srgbClr val="D97706">
              <a:alpha val="30000"/>
            </a:srgbClr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679192" y="3858768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danr_exni_uranium.geojson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45736" y="109728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0F3320"/>
          </a:solidFill>
          <a:ln w="190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1097280"/>
            <a:ext cx="1810512" cy="7315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45736" y="120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6EE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2–3 · harmonize + sidebar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45736" y="14813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837176" y="199339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55464" y="2450592"/>
            <a:ext cx="16093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&amp; unzip 17 datasets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Reproject → EPSG:4326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→ ~270 m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to Black Hills bbox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Rasterize vector layers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per-layer PNGs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layer sidebar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55464" y="3858768"/>
            <a:ext cx="1609344" cy="310896"/>
          </a:xfrm>
          <a:prstGeom prst="rect">
            <a:avLst/>
          </a:prstGeom>
          <a:solidFill>
            <a:srgbClr val="2E8B57">
              <a:alpha val="30000"/>
            </a:srgbClr>
          </a:solidFill>
          <a:ln w="1016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55464" y="3858768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EE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GeoTIFF + GeoJSON layers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922008" y="109728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3B0D3A"/>
          </a:solidFill>
          <a:ln w="19050">
            <a:solidFill>
              <a:srgbClr val="C026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931152" y="1097280"/>
            <a:ext cx="1810512" cy="73152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22008" y="120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922008" y="14813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013448" y="199339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31736" y="2450592"/>
            <a:ext cx="16093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Per-layer GeoTIFF files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harmonized_visualization.png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composite.png mosaic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folium HTML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sidebar: toggle,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opacity &amp; reorder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031736" y="3858768"/>
            <a:ext cx="1609344" cy="310896"/>
          </a:xfrm>
          <a:prstGeom prst="rect">
            <a:avLst/>
          </a:prstGeom>
          <a:solidFill>
            <a:srgbClr val="C026D3">
              <a:alpha val="30000"/>
            </a:srgbClr>
          </a:solidFill>
          <a:ln w="10160">
            <a:solidFill>
              <a:srgbClr val="C026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031736" y="3858768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output/ directory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258568" y="2697480"/>
            <a:ext cx="274320" cy="0"/>
          </a:xfrm>
          <a:prstGeom prst="line">
            <a:avLst/>
          </a:prstGeom>
          <a:noFill/>
          <a:ln w="2540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434840" y="2697480"/>
            <a:ext cx="274320" cy="0"/>
          </a:xfrm>
          <a:prstGeom prst="line">
            <a:avLst/>
          </a:prstGeom>
          <a:noFill/>
          <a:ln w="2540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611112" y="2697480"/>
            <a:ext cx="274320" cy="0"/>
          </a:xfrm>
          <a:prstGeom prst="line">
            <a:avLst/>
          </a:prstGeom>
          <a:noFill/>
          <a:ln w="2540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0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parse_exni_to_geojson.py  →  black_hills_harmonization.py  →  inject_sidebar.py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Black Hills Mining Impact Digital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8BA3BE"/>
                </a:solidFill>
                <a:latin typeface="Calibri"/>
              </a:rPr>
              <a:t>Workflow — geospatial inputs · LLM harmonization · SWAT / DRASTIC process models · vulnerability outputs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0000" y="1080000"/>
            <a:ext cx="1460000" cy="240000"/>
          </a:xfrm>
          <a:prstGeom prst="roundRect">
            <a:avLst>
              <a:gd name="adj" fmla="val 40000"/>
            </a:avLst>
          </a:prstGeom>
          <a:solidFill>
            <a:srgbClr val="1E3A5F"/>
          </a:solidFill>
          <a:ln w="12700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0000" y="1080000"/>
            <a:ext cx="146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50">
                <a:solidFill>
                  <a:srgbClr val="A8C8F8"/>
                </a:solidFill>
                <a:latin typeface="Calibri"/>
              </a:rPr>
              <a:t>1  ·  INPUTS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40000" y="1080000"/>
            <a:ext cx="2560000" cy="240000"/>
          </a:xfrm>
          <a:prstGeom prst="roundRect">
            <a:avLst>
              <a:gd name="adj" fmla="val 40000"/>
            </a:avLst>
          </a:prstGeom>
          <a:solidFill>
            <a:srgbClr val="3D2B00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40000" y="1080000"/>
            <a:ext cx="256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50">
                <a:solidFill>
                  <a:srgbClr val="FBBF24"/>
                </a:solidFill>
                <a:latin typeface="Calibri"/>
              </a:rPr>
              <a:t>2  ·  HARMONIZATION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20000" y="1080000"/>
            <a:ext cx="1740000" cy="240000"/>
          </a:xfrm>
          <a:prstGeom prst="roundRect">
            <a:avLst>
              <a:gd name="adj" fmla="val 40000"/>
            </a:avLst>
          </a:prstGeom>
          <a:solidFill>
            <a:srgbClr val="0F3320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20000" y="1080000"/>
            <a:ext cx="17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50">
                <a:solidFill>
                  <a:srgbClr val="6EE7A8"/>
                </a:solidFill>
                <a:latin typeface="Calibri"/>
              </a:rPr>
              <a:t>3  ·  PROCESS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80000" y="1080000"/>
            <a:ext cx="2200000" cy="240000"/>
          </a:xfrm>
          <a:prstGeom prst="roundRect">
            <a:avLst>
              <a:gd name="adj" fmla="val 40000"/>
            </a:avLst>
          </a:prstGeom>
          <a:solidFill>
            <a:srgbClr val="3B0D3A"/>
          </a:solidFill>
          <a:ln w="12700">
            <a:solidFill>
              <a:srgbClr val="C02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80000" y="1080000"/>
            <a:ext cx="22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150">
                <a:solidFill>
                  <a:srgbClr val="E879F9"/>
                </a:solidFill>
                <a:latin typeface="Calibri"/>
              </a:rPr>
              <a:t>4  ·  OUTPUTS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000" y="1500000"/>
            <a:ext cx="1460000" cy="540000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 w="15875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0000" y="1500000"/>
            <a:ext cx="1460000" cy="5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Geospatial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000" y="2120000"/>
            <a:ext cx="1460000" cy="540000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 w="15875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0000" y="2120000"/>
            <a:ext cx="1460000" cy="5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Text documents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000" y="2740000"/>
            <a:ext cx="1460000" cy="700000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 w="15875">
            <a:solidFill>
              <a:srgbClr val="3B7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0000" y="2740000"/>
            <a:ext cx="1460000" cy="7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Weather data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(historical + projected)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40000" y="2000000"/>
            <a:ext cx="1260000" cy="900000"/>
          </a:xfrm>
          <a:prstGeom prst="roundRect">
            <a:avLst>
              <a:gd name="adj" fmla="val 12000"/>
            </a:avLst>
          </a:prstGeom>
          <a:solidFill>
            <a:srgbClr val="3D2B0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40000" y="2130000"/>
            <a:ext cx="1260000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Cassie 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40000" y="2470000"/>
            <a:ext cx="1260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1">
                <a:solidFill>
                  <a:srgbClr val="FBBF24"/>
                </a:solidFill>
                <a:latin typeface="Calibri"/>
              </a:rPr>
              <a:t>adapted workflow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0000" y="2330000"/>
            <a:ext cx="1080000" cy="240000"/>
          </a:xfrm>
          <a:prstGeom prst="roundRect">
            <a:avLst>
              <a:gd name="adj" fmla="val 3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20000" y="2330000"/>
            <a:ext cx="108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GeoJSON + GeoTIFF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20000" y="1900000"/>
            <a:ext cx="1740000" cy="580000"/>
          </a:xfrm>
          <a:prstGeom prst="roundRect">
            <a:avLst>
              <a:gd name="adj" fmla="val 15000"/>
            </a:avLst>
          </a:prstGeom>
          <a:solidFill>
            <a:srgbClr val="0F3320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20000" y="1900000"/>
            <a:ext cx="1740000" cy="5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SWAT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20000" y="2620000"/>
            <a:ext cx="1740000" cy="580000"/>
          </a:xfrm>
          <a:prstGeom prst="roundRect">
            <a:avLst>
              <a:gd name="adj" fmla="val 15000"/>
            </a:avLst>
          </a:prstGeom>
          <a:solidFill>
            <a:srgbClr val="0F3320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20000" y="2620000"/>
            <a:ext cx="1740000" cy="5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DRASTIC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0000" y="3450000"/>
            <a:ext cx="1860000" cy="460000"/>
          </a:xfrm>
          <a:prstGeom prst="roundRect">
            <a:avLst>
              <a:gd name="adj" fmla="val 30000"/>
            </a:avLst>
          </a:prstGeom>
          <a:solidFill>
            <a:srgbClr val="1B2A40"/>
          </a:solidFill>
          <a:ln w="12700">
            <a:solidFill>
              <a:srgbClr val="506A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60000" y="3450000"/>
            <a:ext cx="1860000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1">
                <a:solidFill>
                  <a:srgbClr val="C8D8EA"/>
                </a:solidFill>
                <a:latin typeface="Calibri"/>
              </a:rPr>
              <a:t>User inputs on process models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80000" y="1820000"/>
            <a:ext cx="2200000" cy="560000"/>
          </a:xfrm>
          <a:prstGeom prst="roundRect">
            <a:avLst>
              <a:gd name="adj" fmla="val 15000"/>
            </a:avLst>
          </a:prstGeom>
          <a:solidFill>
            <a:srgbClr val="3B0D3A"/>
          </a:solidFill>
          <a:ln w="19050">
            <a:solidFill>
              <a:srgbClr val="C02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80000" y="1820000"/>
            <a:ext cx="22000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Dashboard / Database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80000" y="2580000"/>
            <a:ext cx="1070000" cy="920000"/>
          </a:xfrm>
          <a:prstGeom prst="roundRect">
            <a:avLst>
              <a:gd name="adj" fmla="val 18000"/>
            </a:avLst>
          </a:prstGeom>
          <a:solidFill>
            <a:srgbClr val="C02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80000" y="2580000"/>
            <a:ext cx="1070000" cy="9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Relative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vulnerability index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10000" y="2580000"/>
            <a:ext cx="1070000" cy="920000"/>
          </a:xfrm>
          <a:prstGeom prst="roundRect">
            <a:avLst>
              <a:gd name="adj" fmla="val 18000"/>
            </a:avLst>
          </a:prstGeom>
          <a:solidFill>
            <a:srgbClr val="C02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10000" y="2580000"/>
            <a:ext cx="1070000" cy="9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Water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availability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00" y="4400000"/>
            <a:ext cx="8504000" cy="320000"/>
          </a:xfrm>
          <a:prstGeom prst="roundRect">
            <a:avLst>
              <a:gd name="adj" fmla="val 15000"/>
            </a:avLst>
          </a:prstGeom>
          <a:solidFill>
            <a:srgbClr val="1B2A40"/>
          </a:solidFill>
          <a:ln w="12700">
            <a:solidFill>
              <a:srgbClr val="506A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00" y="4400000"/>
            <a:ext cx="85040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1" spc="150">
                <a:solidFill>
                  <a:srgbClr val="8BA3BE"/>
                </a:solidFill>
                <a:latin typeface="Calibri"/>
              </a:rPr>
              <a:t>Python package  —  shared codebase across all stages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720000" y="1770000"/>
            <a:ext cx="220000" cy="480000"/>
          </a:xfrm>
          <a:prstGeom prst="line">
            <a:avLst/>
          </a:prstGeom>
          <a:ln w="19050">
            <a:solidFill>
              <a:srgbClr val="8BA3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720000" y="2390000"/>
            <a:ext cx="220000" cy="60000"/>
          </a:xfrm>
          <a:prstGeom prst="line">
            <a:avLst/>
          </a:prstGeom>
          <a:ln w="19050">
            <a:solidFill>
              <a:srgbClr val="8BA3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720000" y="2650000"/>
            <a:ext cx="220000" cy="440000"/>
          </a:xfrm>
          <a:prstGeom prst="line">
            <a:avLst/>
          </a:prstGeom>
          <a:ln w="19050">
            <a:solidFill>
              <a:srgbClr val="8BA3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200000" y="2450000"/>
            <a:ext cx="220000" cy="0"/>
          </a:xfrm>
          <a:prstGeom prst="line">
            <a:avLst/>
          </a:prstGeom>
          <a:ln w="19050">
            <a:solidFill>
              <a:srgbClr val="8BA3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500000" y="2190000"/>
            <a:ext cx="220000" cy="260000"/>
          </a:xfrm>
          <a:prstGeom prst="line">
            <a:avLst/>
          </a:prstGeom>
          <a:ln w="19050">
            <a:solidFill>
              <a:srgbClr val="8BA3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500000" y="2450000"/>
            <a:ext cx="220000" cy="460000"/>
          </a:xfrm>
          <a:prstGeom prst="line">
            <a:avLst/>
          </a:prstGeom>
          <a:ln w="19050">
            <a:solidFill>
              <a:srgbClr val="8BA3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6460000" y="2100000"/>
            <a:ext cx="220000" cy="90000"/>
          </a:xfrm>
          <a:prstGeom prst="line">
            <a:avLst/>
          </a:prstGeom>
          <a:ln w="19050">
            <a:solidFill>
              <a:srgbClr val="8BA3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460000" y="2100000"/>
            <a:ext cx="220000" cy="810000"/>
          </a:xfrm>
          <a:prstGeom prst="line">
            <a:avLst/>
          </a:prstGeom>
          <a:ln w="19050">
            <a:solidFill>
              <a:srgbClr val="8BA3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215000" y="2380000"/>
            <a:ext cx="0" cy="200000"/>
          </a:xfrm>
          <a:prstGeom prst="line">
            <a:avLst/>
          </a:prstGeom>
          <a:ln w="19050">
            <a:solidFill>
              <a:srgbClr val="8BA3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345000" y="2380000"/>
            <a:ext cx="0" cy="200000"/>
          </a:xfrm>
          <a:prstGeom prst="line">
            <a:avLst/>
          </a:prstGeom>
          <a:ln w="19050">
            <a:solidFill>
              <a:srgbClr val="8BA3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5590000" y="3200000"/>
            <a:ext cx="0" cy="250000"/>
          </a:xfrm>
          <a:prstGeom prst="line">
            <a:avLst/>
          </a:prstGeom>
          <a:ln w="1905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400000" y="2300000"/>
            <a:ext cx="280000" cy="1150000"/>
          </a:xfrm>
          <a:prstGeom prst="line">
            <a:avLst/>
          </a:prstGeom>
          <a:ln w="1905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4745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277</Words>
  <Application>Microsoft Macintosh PowerPoint</Application>
  <PresentationFormat>On-screen Show (16:9)</PresentationFormat>
  <Paragraphs>69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Maxwell Cook</cp:lastModifiedBy>
  <cp:revision>4</cp:revision>
  <dcterms:created xsi:type="dcterms:W3CDTF">2026-05-14T19:37:58Z</dcterms:created>
  <dcterms:modified xsi:type="dcterms:W3CDTF">2026-05-14T21:11:51Z</dcterms:modified>
</cp:coreProperties>
</file>